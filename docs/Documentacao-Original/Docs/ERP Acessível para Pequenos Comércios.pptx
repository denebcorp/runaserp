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151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57250"/>
            <a:ext cx="4343400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ERP Acessível para Pequenos Comércios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2717416"/>
            <a:ext cx="434340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A3F3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Uma solução tecnológica pensada para a realidade da tabacaria e do pequeno varejista brasileiro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1500" y="4106094"/>
            <a:ext cx="3337917" cy="35183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C5A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Proposta de Sistema de Gestão Comercial Simples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0" y="0"/>
            <a:ext cx="3657600" cy="5315173"/>
          </a:xfrm>
          <a:prstGeom prst="rect">
            <a:avLst/>
          </a:prstGeom>
          <a:solidFill>
            <a:srgbClr val="D9773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036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Pequenos comércios movem a economia, mas operam no limite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89422"/>
            <a:ext cx="4543425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Mais de </a:t>
            </a:r>
            <a:r>
              <a:rPr lang="en-US" sz="10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17 milhões de microempresas</a:t>
            </a:r>
            <a:r>
              <a:rPr lang="en-US" sz="10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estão ativas no Brasil (SEBRAE, 2023).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1718072"/>
            <a:ext cx="4543425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Segmentos como tabacarias, papelarias e mercearias representam uma parcela expressiva do comércio varejista local.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346722"/>
            <a:ext cx="4543425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maioria opera com controles manuais: cadernos, planilhas avulsas e memória do proprietário.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975372"/>
            <a:ext cx="4543425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Ausência de controle de estoque gera perdas por excesso ou falta de produtos.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3604022"/>
            <a:ext cx="4543425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Dificuldade em acompanhar o histórico de clientes e fornecedores compromete a fidelização e a negociação.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1103709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8C5A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71500" y="1732359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8C5A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71500" y="2361009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8C5A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71500" y="2989659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8C5A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71500" y="3618309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8C5A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43550" y="1232297"/>
            <a:ext cx="3028950" cy="2114550"/>
          </a:xfrm>
          <a:prstGeom prst="rect">
            <a:avLst/>
          </a:prstGeom>
          <a:solidFill>
            <a:srgbClr val="D97736"/>
          </a:solidFill>
          <a:ln/>
        </p:spPr>
      </p:sp>
      <p:sp>
        <p:nvSpPr>
          <p:cNvPr id="15" name="Text 12"/>
          <p:cNvSpPr/>
          <p:nvPr/>
        </p:nvSpPr>
        <p:spPr>
          <a:xfrm>
            <a:off x="5829300" y="1518047"/>
            <a:ext cx="245745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AF6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"O pequeno comerciante conhece o seu cliente pelo nome, mas não tem ferramentas para transformar esse relacionamento em dados estratégicos."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036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 tabacaria ilustra os desafios do varejo de nicho sem tecnologia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210866"/>
            <a:ext cx="38576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Volume de SKUs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71500" y="1491258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Gerencia </a:t>
            </a:r>
            <a:r>
              <a:rPr lang="en-US" sz="900" b="1" dirty="0">
                <a:solidFill>
                  <a:srgbClr val="4A3F35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dezenas a centenas de SKUs</a:t>
            </a: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(cigarros, charutos, </a:t>
            </a: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narguilés, acessórios, bebidas).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714875" y="1210866"/>
            <a:ext cx="38576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Complexidade de Estoque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14875" y="1491258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Produtos com validade, variações de marca e fornecedores distintos exigem controle preciso.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2431833"/>
            <a:ext cx="38576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Reposição Ineficiente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" y="2712225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Reposição de estoque feita "no olho" resulta em rupturas ou capital parado em excesso.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14875" y="2431833"/>
            <a:ext cx="38576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Perda de Oportunidades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14875" y="2712225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Clientes frequentes raramente são cadastrados, perdendo oportunidades de fidelização.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1500" y="3652828"/>
            <a:ext cx="38576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Controle Financeiro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1500" y="3933220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Controle de caixa e vendas é feito manualmente ou em planilhas desconexas.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0" y="4466630"/>
            <a:ext cx="9144000" cy="676870"/>
          </a:xfrm>
          <a:prstGeom prst="rect">
            <a:avLst/>
          </a:prstGeom>
          <a:solidFill>
            <a:srgbClr val="2C1E16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4680942"/>
            <a:ext cx="80010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6F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Resultado: decisões baseadas em </a:t>
            </a:r>
            <a:r>
              <a:rPr lang="en-US" sz="1400" dirty="0">
                <a:solidFill>
                  <a:srgbClr val="D9773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intuição</a:t>
            </a:r>
            <a:r>
              <a:rPr lang="en-US" sz="1400" dirty="0">
                <a:solidFill>
                  <a:srgbClr val="FAF6F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, não em </a:t>
            </a:r>
            <a:r>
              <a:rPr lang="en-US" sz="1400" dirty="0">
                <a:solidFill>
                  <a:srgbClr val="D9773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dados</a:t>
            </a:r>
            <a:r>
              <a:rPr lang="en-US" sz="1400" dirty="0">
                <a:solidFill>
                  <a:srgbClr val="FAF6F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0721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 custo e a complexidade afastam o pequeno comerciante dos ERPs tradicionais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393031"/>
            <a:ext cx="3474458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Soluções como SAP, TOTVS ou Oracle são projetadas para médias e grandes empresas.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71500" y="1947342"/>
            <a:ext cx="3474458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Licenças mensais de ERPs populares variam entre </a:t>
            </a:r>
            <a:r>
              <a:rPr lang="en-US" sz="900" b="1" dirty="0">
                <a:solidFill>
                  <a:srgbClr val="4A3F35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R$ 300 e R$ 2.000/mês</a:t>
            </a: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inviáveis para micro negócios.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501652"/>
            <a:ext cx="3474458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Interfaces complexas exigem treinamento extenso e suporte técnico contínuo.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3055962"/>
            <a:ext cx="3474458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Muitos sistemas exigem infraestrutura local (servidores, técnicos de TI).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3610273"/>
            <a:ext cx="3474458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curva de aprendizado elevada desestimula a adoção mesmo quando o custo é subsidiado.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1407319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8C5A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71500" y="1961629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8C5A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571500" y="2515939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8C5A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71500" y="3070250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8C5A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571500" y="3624560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8C5A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4403145" y="1464469"/>
            <a:ext cx="909712" cy="408980"/>
          </a:xfrm>
          <a:prstGeom prst="rect">
            <a:avLst/>
          </a:prstGeom>
          <a:solidFill>
            <a:srgbClr val="8C5A35">
              <a:alpha val="1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403145" y="1866305"/>
            <a:ext cx="909712" cy="7144"/>
          </a:xfrm>
          <a:prstGeom prst="rect">
            <a:avLst/>
          </a:prstGeom>
          <a:solidFill>
            <a:srgbClr val="8C5A35"/>
          </a:solidFill>
          <a:ln/>
        </p:spPr>
      </p:sp>
      <p:sp>
        <p:nvSpPr>
          <p:cNvPr id="16" name="Text 13"/>
          <p:cNvSpPr/>
          <p:nvPr/>
        </p:nvSpPr>
        <p:spPr>
          <a:xfrm>
            <a:off x="4403145" y="1464469"/>
            <a:ext cx="909712" cy="408980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312857" y="1464469"/>
            <a:ext cx="1128713" cy="408980"/>
          </a:xfrm>
          <a:prstGeom prst="rect">
            <a:avLst/>
          </a:prstGeom>
          <a:solidFill>
            <a:srgbClr val="8C5A35">
              <a:alpha val="1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312857" y="1866305"/>
            <a:ext cx="1128713" cy="7144"/>
          </a:xfrm>
          <a:prstGeom prst="rect">
            <a:avLst/>
          </a:prstGeom>
          <a:solidFill>
            <a:srgbClr val="8C5A35"/>
          </a:solidFill>
          <a:ln/>
        </p:spPr>
      </p:sp>
      <p:sp>
        <p:nvSpPr>
          <p:cNvPr id="19" name="Text 16"/>
          <p:cNvSpPr/>
          <p:nvPr/>
        </p:nvSpPr>
        <p:spPr>
          <a:xfrm>
            <a:off x="5312857" y="1464469"/>
            <a:ext cx="1128713" cy="408980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Custo Mensal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41570" y="1464469"/>
            <a:ext cx="1150144" cy="408980"/>
          </a:xfrm>
          <a:prstGeom prst="rect">
            <a:avLst/>
          </a:prstGeom>
          <a:solidFill>
            <a:srgbClr val="8C5A35">
              <a:alpha val="1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441570" y="1866305"/>
            <a:ext cx="1150144" cy="7144"/>
          </a:xfrm>
          <a:prstGeom prst="rect">
            <a:avLst/>
          </a:prstGeom>
          <a:solidFill>
            <a:srgbClr val="8C5A35"/>
          </a:solidFill>
          <a:ln/>
        </p:spPr>
      </p:sp>
      <p:sp>
        <p:nvSpPr>
          <p:cNvPr id="22" name="Text 19"/>
          <p:cNvSpPr/>
          <p:nvPr/>
        </p:nvSpPr>
        <p:spPr>
          <a:xfrm>
            <a:off x="6441570" y="1464469"/>
            <a:ext cx="1150144" cy="408980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Complexidade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591713" y="1464469"/>
            <a:ext cx="980787" cy="408980"/>
          </a:xfrm>
          <a:prstGeom prst="rect">
            <a:avLst/>
          </a:prstGeom>
          <a:solidFill>
            <a:srgbClr val="8C5A35">
              <a:alpha val="1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591713" y="1866305"/>
            <a:ext cx="980787" cy="7144"/>
          </a:xfrm>
          <a:prstGeom prst="rect">
            <a:avLst/>
          </a:prstGeom>
          <a:solidFill>
            <a:srgbClr val="8C5A35"/>
          </a:solidFill>
          <a:ln/>
        </p:spPr>
      </p:sp>
      <p:sp>
        <p:nvSpPr>
          <p:cNvPr id="25" name="Text 22"/>
          <p:cNvSpPr/>
          <p:nvPr/>
        </p:nvSpPr>
        <p:spPr>
          <a:xfrm>
            <a:off x="7591713" y="1464469"/>
            <a:ext cx="980787" cy="408980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Adequação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03145" y="1869877"/>
            <a:ext cx="909712" cy="742950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SAP Business One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312857" y="1869877"/>
            <a:ext cx="1128713" cy="742950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R$ 1.500+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441570" y="1869877"/>
            <a:ext cx="1150144" cy="742950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Alta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591713" y="1869877"/>
            <a:ext cx="980787" cy="742950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Baixa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403145" y="2612827"/>
            <a:ext cx="909712" cy="396478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TOTVS ME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312857" y="2612827"/>
            <a:ext cx="1128713" cy="396478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R$ 500–800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441570" y="2612827"/>
            <a:ext cx="1150144" cy="396478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Média-Alta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591713" y="2612827"/>
            <a:ext cx="980787" cy="396478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Média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403145" y="3009305"/>
            <a:ext cx="909712" cy="571500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Planilha Excel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312857" y="3009305"/>
            <a:ext cx="1128713" cy="571500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Gratuito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441570" y="3009305"/>
            <a:ext cx="1150144" cy="571500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Média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591713" y="3009305"/>
            <a:ext cx="980787" cy="571500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Baixa (limitada)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403145" y="3580805"/>
            <a:ext cx="4169355" cy="567928"/>
          </a:xfrm>
          <a:prstGeom prst="rect">
            <a:avLst/>
          </a:prstGeom>
          <a:solidFill>
            <a:srgbClr val="D97736"/>
          </a:solidFill>
          <a:ln/>
        </p:spPr>
      </p:sp>
      <p:sp>
        <p:nvSpPr>
          <p:cNvPr id="39" name="Text 36"/>
          <p:cNvSpPr/>
          <p:nvPr/>
        </p:nvSpPr>
        <p:spPr>
          <a:xfrm>
            <a:off x="4403145" y="3580805"/>
            <a:ext cx="909712" cy="567928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AF6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ERP Proposto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312857" y="3580805"/>
            <a:ext cx="1128713" cy="567928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AF6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Baixo/Gratuito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441570" y="3580805"/>
            <a:ext cx="1150144" cy="567928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AF6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Baixa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591713" y="3580805"/>
            <a:ext cx="980787" cy="567928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AF6F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Alta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036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 sistema cobre as operações essenciais do dia a dia comercial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325166"/>
            <a:ext cx="3714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9773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Gestão de Produtos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660922"/>
            <a:ext cx="3714750" cy="38576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CRUD completo: cadastrar, consultar, atualizar e remover produtos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132409"/>
            <a:ext cx="3714750" cy="38576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Campos: código, nome, descrição, preço e estoque disponível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1660922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—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2132409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—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857750" y="1325166"/>
            <a:ext cx="3714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9773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Gestão de Clientes e Fornecedores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57750" y="1660922"/>
            <a:ext cx="3714750" cy="192881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Cadastro com CPF/CNPJ, endereço, telefone e e-mail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857750" y="1939528"/>
            <a:ext cx="3714750" cy="192881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Histórico de relacionamento e produtos fornecidos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57750" y="1660922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—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57750" y="1939528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—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1500" y="3452217"/>
            <a:ext cx="3714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9773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Gestão de Vendas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71500" y="3787973"/>
            <a:ext cx="3714750" cy="38576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Registro de vendas com seleção de produtos, quantidade e cliente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71500" y="4259461"/>
            <a:ext cx="3714750" cy="192881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Atualização automática do estoque após cada venda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71500" y="4538067"/>
            <a:ext cx="3714750" cy="192881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 de histórico por data, cliente ou produto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71500" y="3787973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—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1500" y="4259461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—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1500" y="4538067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—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57750" y="3452217"/>
            <a:ext cx="3714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9773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Relatórios Operacionais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57750" y="3787973"/>
            <a:ext cx="3714750" cy="192881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Vendas por período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57750" y="4066580"/>
            <a:ext cx="3714750" cy="192881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Produtos com baixo estoque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857750" y="4345186"/>
            <a:ext cx="3714750" cy="192881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Clientes mais ativos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57750" y="3787973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—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857750" y="4066580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—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857750" y="4345186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—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036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Perfis de usuário garantem segurança sem complicar a operação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160859"/>
            <a:ext cx="3786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8C5A35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Controle e Auditoria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71500" y="1689497"/>
            <a:ext cx="8631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C5A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4967" y="1675209"/>
            <a:ext cx="359272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3F35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Login com usuário e senha</a:t>
            </a:r>
            <a:r>
              <a:rPr lang="en-US" sz="11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proteger dados </a:t>
            </a:r>
            <a:r>
              <a:rPr lang="en-US" sz="11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sensíveis do negócio.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" y="2375297"/>
            <a:ext cx="8631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C5A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4967" y="2361009"/>
            <a:ext cx="359272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3F35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Controle de acesso</a:t>
            </a:r>
            <a:r>
              <a:rPr lang="en-US" sz="11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evita erros acidentais e </a:t>
            </a:r>
            <a:r>
              <a:rPr lang="en-US" sz="11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protege informações financeiras.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" y="3061097"/>
            <a:ext cx="8631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C5A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4967" y="3046809"/>
            <a:ext cx="359272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3F35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Auditoria básica:</a:t>
            </a:r>
            <a:r>
              <a:rPr lang="en-US" sz="11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registro de quem realizou cada </a:t>
            </a:r>
            <a:r>
              <a:rPr lang="en-US" sz="11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operação no sistema.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86313" y="1160859"/>
            <a:ext cx="3786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8C5A35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Dois perfis básicos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786313" y="1603772"/>
            <a:ext cx="3786188" cy="1273373"/>
          </a:xfrm>
          <a:prstGeom prst="rect">
            <a:avLst/>
          </a:prstGeom>
          <a:solidFill>
            <a:srgbClr val="2C1E16"/>
          </a:solidFill>
          <a:ln/>
        </p:spPr>
      </p:sp>
      <p:sp>
        <p:nvSpPr>
          <p:cNvPr id="13" name="Text 10"/>
          <p:cNvSpPr/>
          <p:nvPr/>
        </p:nvSpPr>
        <p:spPr>
          <a:xfrm>
            <a:off x="5000625" y="1818084"/>
            <a:ext cx="3357563" cy="35183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AF6F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Administrador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00625" y="2277070"/>
            <a:ext cx="33575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AF6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Acesso total: cadastros, relatórios, configurações e exclusões.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86313" y="3020020"/>
            <a:ext cx="3786188" cy="1080492"/>
          </a:xfrm>
          <a:prstGeom prst="rect">
            <a:avLst/>
          </a:prstGeom>
          <a:solidFill>
            <a:srgbClr val="D97736"/>
          </a:solidFill>
          <a:ln/>
        </p:spPr>
      </p:sp>
      <p:sp>
        <p:nvSpPr>
          <p:cNvPr id="16" name="Text 13"/>
          <p:cNvSpPr/>
          <p:nvPr/>
        </p:nvSpPr>
        <p:spPr>
          <a:xfrm>
            <a:off x="5000625" y="3234333"/>
            <a:ext cx="3357563" cy="35183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AF6F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Vendedor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00625" y="3693319"/>
            <a:ext cx="33575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AF6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Registro de vendas, consulta de produtos e clientes.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Interface simples e resposta rápida são inegociáveis para o pequeno comerciante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380139"/>
            <a:ext cx="3786188" cy="35183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C5A35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Usabilidade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71500" y="1874844"/>
            <a:ext cx="3786188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Interface limpa, intuitiva e com poucos cliques para operações cotidianas.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474919"/>
            <a:ext cx="3786188" cy="22860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Campos obrigatórios claramente sinalizados.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846394"/>
            <a:ext cx="3786188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Treinamento mínimo: o sistema deve ser autoexplicativo.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89131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71500" y="2489206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71500" y="2860681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786313" y="1380139"/>
            <a:ext cx="3786188" cy="35183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C5A35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Desempenho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86313" y="1874844"/>
            <a:ext cx="3786188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Resposta em </a:t>
            </a:r>
            <a:r>
              <a:rPr lang="en-US" sz="10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menos de 2 segundos</a:t>
            </a:r>
            <a:r>
              <a:rPr lang="en-US" sz="10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operações CRUD básicas.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86313" y="2474919"/>
            <a:ext cx="3786188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Suporte a até </a:t>
            </a:r>
            <a:r>
              <a:rPr lang="en-US" sz="10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10.000 registros</a:t>
            </a:r>
            <a:r>
              <a:rPr lang="en-US" sz="10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sem degradação perceptível de performance.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86313" y="3074994"/>
            <a:ext cx="3786188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Carregamento rápido mesmo em conexões de internet moderadas.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0" y="4234848"/>
            <a:ext cx="9144000" cy="908652"/>
          </a:xfrm>
          <a:prstGeom prst="rect">
            <a:avLst/>
          </a:prstGeom>
          <a:solidFill>
            <a:srgbClr val="D97736"/>
          </a:solidFill>
          <a:ln/>
        </p:spPr>
      </p:sp>
      <p:sp>
        <p:nvSpPr>
          <p:cNvPr id="16" name="Text 13"/>
          <p:cNvSpPr/>
          <p:nvPr/>
        </p:nvSpPr>
        <p:spPr>
          <a:xfrm>
            <a:off x="4786313" y="1889131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786313" y="2489206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786313" y="3089281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71500" y="4449161"/>
            <a:ext cx="8001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FAF6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"Um sistema que trava ou confunde o usuário será abandonado em dias. Simplicidade e velocidade são diferenciais críticos."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036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Segurança e disponibilidade protegem o negócio e a confiança do usuário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303734"/>
            <a:ext cx="2381241" cy="387548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C5A35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Segurança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71500" y="1905595"/>
            <a:ext cx="2381241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Senhas armazenadas com </a:t>
            </a: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hash + salt</a:t>
            </a: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(ex: bcrypt).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488481"/>
            <a:ext cx="2381241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Permissões diferenciadas por perfil de usuário.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3071366"/>
            <a:ext cx="2381241" cy="61715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Proteção contra acesso não autorizado aos dados de clientes e vendas.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1934170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571500" y="2517056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71500" y="3099941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3381366" y="1303734"/>
            <a:ext cx="2381241" cy="387548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C5A35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Portabilidade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81366" y="1905595"/>
            <a:ext cx="2381241" cy="61715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 </a:t>
            </a: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web</a:t>
            </a: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acessível em qualquer navegador moderno (Chrome, Firefox, Edge).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381366" y="2694198"/>
            <a:ext cx="2381241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</a:t>
            </a: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mobile-friendly</a:t>
            </a: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uso em tablets e smartphones no balcão.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1366" y="1934170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3381366" y="2722773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191231" y="1303734"/>
            <a:ext cx="2381241" cy="387548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C5A35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Confiabilidade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91231" y="1905595"/>
            <a:ext cx="2381241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 automático diário do banco de dados.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191231" y="2488481"/>
            <a:ext cx="2381241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Mecanismo de recuperação de dados em caso de falha.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191231" y="3071366"/>
            <a:ext cx="2381241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Disponibilidade mínima de 99% em horário comercial.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91231" y="1934170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6191231" y="2517056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191231" y="3099941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036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Um sistema feito para quem vende, não para quem tem equipe de TI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427076"/>
            <a:ext cx="4543425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Tecnologia web</a:t>
            </a: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sem instalação, acessível pelo navegador em qualquer dispositivo.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71500" y="2017105"/>
            <a:ext cx="4543425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Interface minimalista</a:t>
            </a: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foco nas tarefas do dia a dia: vender, repor e consultar.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2607134"/>
            <a:ext cx="4543425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Código modular e documentado</a:t>
            </a: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permite expansão futura (módulo financeiro, fiscal, etc.).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3197163"/>
            <a:ext cx="4543425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Custo acessível</a:t>
            </a: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modelo de baixo custo ou open-source, viável para microempresas.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3787192"/>
            <a:ext cx="4543425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Implantação rápida</a:t>
            </a: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configuração inicial em menos de 1 hora, sem necessidade de técnico.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1441363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71500" y="2031392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71500" y="2621421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71500" y="3211450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71500" y="3801480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43550" y="1089422"/>
            <a:ext cx="3028950" cy="1496616"/>
          </a:xfrm>
          <a:prstGeom prst="rect">
            <a:avLst/>
          </a:prstGeom>
          <a:solidFill>
            <a:srgbClr val="2C1E16"/>
          </a:solidFill>
          <a:ln/>
        </p:spPr>
      </p:sp>
      <p:sp>
        <p:nvSpPr>
          <p:cNvPr id="15" name="Text 12"/>
          <p:cNvSpPr/>
          <p:nvPr/>
        </p:nvSpPr>
        <p:spPr>
          <a:xfrm>
            <a:off x="5757863" y="1424843"/>
            <a:ext cx="2600325" cy="30718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AF6F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Módulos Iniciais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57863" y="1839181"/>
            <a:ext cx="26003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spc="1" kern="0" dirty="0">
                <a:solidFill>
                  <a:srgbClr val="FAF6F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Produtos | Clientes | Fornecedores | Vendas | Relatórios | Usuários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43550" y="2800350"/>
            <a:ext cx="3028950" cy="1914525"/>
          </a:xfrm>
          <a:prstGeom prst="rect">
            <a:avLst/>
          </a:prstGeom>
          <a:solidFill>
            <a:srgbClr val="D97736"/>
          </a:solidFill>
          <a:ln/>
        </p:spPr>
      </p:sp>
      <p:sp>
        <p:nvSpPr>
          <p:cNvPr id="18" name="Text 15"/>
          <p:cNvSpPr/>
          <p:nvPr/>
        </p:nvSpPr>
        <p:spPr>
          <a:xfrm>
            <a:off x="5757863" y="3014663"/>
            <a:ext cx="2600325" cy="30718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AF6F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Tecnologias Sugeridas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757863" y="3429000"/>
            <a:ext cx="2600325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Frontend:</a:t>
            </a:r>
            <a:r>
              <a:rPr lang="en-US" sz="850" dirty="0">
                <a:solidFill>
                  <a:srgbClr val="FAF6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React ou Vue.js (interface responsiva)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757863" y="3843338"/>
            <a:ext cx="2600325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Backend:</a:t>
            </a:r>
            <a:r>
              <a:rPr lang="en-US" sz="850" dirty="0">
                <a:solidFill>
                  <a:srgbClr val="FAF6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Node.js ou Python/FastAPI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757863" y="4086225"/>
            <a:ext cx="2600325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C1E16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Banco de dados:</a:t>
            </a:r>
            <a:r>
              <a:rPr lang="en-US" sz="850" dirty="0">
                <a:solidFill>
                  <a:srgbClr val="FAF6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PostgreSQL ou SQLite (para implantação local)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757863" y="3429000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AF6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757863" y="3843338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AF6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757863" y="4086225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AF6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C1E1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Tecnologia acessível transforma gestão intuitiva em vantagem competitiva real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380139"/>
            <a:ext cx="3786188" cy="35183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C5A35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Impacto Esperado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71500" y="1910562"/>
            <a:ext cx="3786188" cy="205718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Redução de perdas por ruptura ou excesso de estoque.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259155"/>
            <a:ext cx="3786188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Histórico de clientes e fornecedores disponível em segundos.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813465"/>
            <a:ext cx="3786188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Tomada de decisão baseada em dados reais, não em estimativas.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3367776"/>
            <a:ext cx="3786188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Profissionalização da operação sem aumento de custos fixos.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1924850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71500" y="2273443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71500" y="2827753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71500" y="3382063"/>
            <a:ext cx="6038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D977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786313" y="1380139"/>
            <a:ext cx="3786188" cy="35183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C5A35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Próximos Passos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786313" y="1910562"/>
            <a:ext cx="3786188" cy="411435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Levantamento detalhado de requisitos com o comerciante.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86313" y="2464873"/>
            <a:ext cx="3786188" cy="205718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Prototipagem da interface (wireframes).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786313" y="2813465"/>
            <a:ext cx="3786188" cy="205718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Desenvolvimento do MVP com os módulos essenciais.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786313" y="3162058"/>
            <a:ext cx="3786188" cy="205718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 com usuários reais no ambiente da tabacaria.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86313" y="3510651"/>
            <a:ext cx="3786188" cy="205718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Iteração e expansão gradual dos módulos.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0" y="4454854"/>
            <a:ext cx="9144000" cy="688646"/>
          </a:xfrm>
          <a:prstGeom prst="rect">
            <a:avLst/>
          </a:prstGeom>
          <a:solidFill>
            <a:srgbClr val="2C1E16"/>
          </a:solidFill>
          <a:ln/>
        </p:spPr>
      </p:sp>
      <p:sp>
        <p:nvSpPr>
          <p:cNvPr id="20" name="Shape 17"/>
          <p:cNvSpPr/>
          <p:nvPr/>
        </p:nvSpPr>
        <p:spPr>
          <a:xfrm>
            <a:off x="4786313" y="1910562"/>
            <a:ext cx="171450" cy="171450"/>
          </a:xfrm>
          <a:prstGeom prst="rect">
            <a:avLst/>
          </a:prstGeom>
          <a:solidFill>
            <a:srgbClr val="2C1E16"/>
          </a:solidFill>
          <a:ln/>
        </p:spPr>
      </p:sp>
      <p:sp>
        <p:nvSpPr>
          <p:cNvPr id="21" name="Text 18"/>
          <p:cNvSpPr/>
          <p:nvPr/>
        </p:nvSpPr>
        <p:spPr>
          <a:xfrm>
            <a:off x="4786313" y="191056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FAF6F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counter(step-counter)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786313" y="2464873"/>
            <a:ext cx="171450" cy="171450"/>
          </a:xfrm>
          <a:prstGeom prst="rect">
            <a:avLst/>
          </a:prstGeom>
          <a:solidFill>
            <a:srgbClr val="2C1E16"/>
          </a:solidFill>
          <a:ln/>
        </p:spPr>
      </p:sp>
      <p:sp>
        <p:nvSpPr>
          <p:cNvPr id="23" name="Text 20"/>
          <p:cNvSpPr/>
          <p:nvPr/>
        </p:nvSpPr>
        <p:spPr>
          <a:xfrm>
            <a:off x="4786313" y="246487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FAF6F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counter(step-counter)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4786313" y="2813465"/>
            <a:ext cx="171450" cy="171450"/>
          </a:xfrm>
          <a:prstGeom prst="rect">
            <a:avLst/>
          </a:prstGeom>
          <a:solidFill>
            <a:srgbClr val="2C1E16"/>
          </a:solidFill>
          <a:ln/>
        </p:spPr>
      </p:sp>
      <p:sp>
        <p:nvSpPr>
          <p:cNvPr id="25" name="Text 22"/>
          <p:cNvSpPr/>
          <p:nvPr/>
        </p:nvSpPr>
        <p:spPr>
          <a:xfrm>
            <a:off x="4786313" y="281346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FAF6F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counter(step-counter)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4786313" y="3162058"/>
            <a:ext cx="171450" cy="171450"/>
          </a:xfrm>
          <a:prstGeom prst="rect">
            <a:avLst/>
          </a:prstGeom>
          <a:solidFill>
            <a:srgbClr val="2C1E16"/>
          </a:solidFill>
          <a:ln/>
        </p:spPr>
      </p:sp>
      <p:sp>
        <p:nvSpPr>
          <p:cNvPr id="27" name="Text 24"/>
          <p:cNvSpPr/>
          <p:nvPr/>
        </p:nvSpPr>
        <p:spPr>
          <a:xfrm>
            <a:off x="4786313" y="316205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FAF6F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counter(step-counter)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4786313" y="3510651"/>
            <a:ext cx="171450" cy="171450"/>
          </a:xfrm>
          <a:prstGeom prst="rect">
            <a:avLst/>
          </a:prstGeom>
          <a:solidFill>
            <a:srgbClr val="2C1E16"/>
          </a:solidFill>
          <a:ln/>
        </p:spPr>
      </p:sp>
      <p:sp>
        <p:nvSpPr>
          <p:cNvPr id="29" name="Text 26"/>
          <p:cNvSpPr/>
          <p:nvPr/>
        </p:nvSpPr>
        <p:spPr>
          <a:xfrm>
            <a:off x="4786313" y="351065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FAF6F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counter(step-counter)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376958" y="4669166"/>
            <a:ext cx="6390084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FAF6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"O melhor sistema é aquele que o comerciante </a:t>
            </a:r>
            <a:r>
              <a:rPr lang="en-US" sz="1400" i="1" dirty="0">
                <a:solidFill>
                  <a:srgbClr val="D9773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realmente usa</a:t>
            </a:r>
            <a:r>
              <a:rPr lang="en-US" sz="1400" i="1" dirty="0">
                <a:solidFill>
                  <a:srgbClr val="FAF6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todos os dias."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2026-04-30T22:06:51Z</dcterms:created>
  <dcterms:modified xsi:type="dcterms:W3CDTF">2026-04-30T22:06:51Z</dcterms:modified>
</cp:coreProperties>
</file>